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2678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engineering deep-dive companion for tbsim.resistance — built for researchers who intend to read, extend, or debug the drug-resistance overlay directly, not just configure and run it. Every slide traces an actual call path or data structure verified against the current source tree (multistrain_tb.py, strains.py, resolvers.py, connector.py, tx.py, tpt.py, diagnostics.py, sim.py) as of this build. Note for anyone who has seen an earlier resistance deck: the class names here — MultiStrainTB, StrainCatalog, AgentStrains, StrainAwareTx — reflect the current API after a refactor away from a single-integer strain_mask toward named ss.BoolArr per-strain state; if you recall TBResistant / Strains / TxR / TPTRx from an older walkthrough, that was the pre-refactor design. We'll go module by module, then finish with the one ResistanceSim constructor call that wires every piece together, and the test suites that pin the wiring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file-by-file map — treat it as the index for the rest of the deck; every later slide zooms into one or two of these files. Two facts matter most for anyone about to patch this code: first, resolvers.py and connector.py are the most loosely coupled files — ResistanceConnector doesn't import MultiStrainTB at all, it just duck-types 'does this disease module have an agent_strains attribute,' and resolvers.py only lazily imports TBS from ..tb inside one method. Second, and most important: tbsim/tb.py never imports anything from tbsim.resistance — the dependency arrow only ever points one way, from resistance modules back into core via relative imports (`from ..tb import TB, TBS, get_tb`), never through `import tbsim`. That's what makes it safe to touch tb.py without grepping the whole resistance subpackage, and it's why plain `import tbsim` never pulls in strain-aware code — you opt in explicitly with `from tbsim.resistance import ...`.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Structurally, nothing here is a new kind of Starsim object — every class that actually participates in the runtime subclasses the exact same primitive its non-strain-aware counterpart does. MultiStrainTB IS-A TB, so anything that operates on 'a TB disease module' generically still works. StrainAwareTx and StrainAwareTPTTx subclass Tx and TPTTx respectively rather than ss.Product directly, so they inherit adherence/relapse/duration machinery and only override what strain-awareness changes. DSTDx and DSTDelivery mirror the Dx/DxDelivery product/delivery split without subclassing them, because DST's output shape (a dict of per-drug arrays) is fundamentally different from a single diagnosed flag. Just as important: StrainSpec, StrainCatalog, AgentStrains, Regimen, and the two resolvers are plain Python objects with no Starsim lifecycle at all — they're called by the Starsim-facing classes, not scheduled by the sim loop themselves. That's the litmus test when adding a new mechanism: does it need init_pre/step/results (subclass a Starsim base), or is it a pure data/logic helper invoked by something that does?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exact construction sequence from multistrain_tb.py's __init__ and _init_strains. Four ordered steps matter for debugging: (1) super().__init__() runs FIRST and is completely unaware of strains — at that point MultiStrainTB is indistinguishable from base TB; (2) _init_strains builds the StrainCatalog (accepting either a raw list of StrainSpec or a pre-built catalog), wraps it in AgentStrains, and constructs both resolvers using whatever progression_mode/p_multi/p_random_acquisition kwargs were popped off before base TB init ran, specifically so base TB's own kwarg validation never sees resistance-specific keys; (3) define_states(*agent_strains.state_defs()) is the moment strain state becomes real Starsim state — state_defs() returns a list of ss.BoolArr named carries_&lt;uid&gt;, and define_states is inherited straight from Starsim's Module base, so births/deaths resize these arrays exactly like any other agent state, for free; (4) agent_strains.attach(self) is a post-condition check — it validates the expected carries_&lt;uid&gt; names exist, then stores a back-reference (_tb) so AgentStrains's own methods can reach getattr(self._tb, name)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exact override chain for a single simulation step, in call order — the one to keep open while reading multistrain_tb.py. MultiStrainTB.step() resets four step-local counters and defers entirely to super().step(), the unmodified base TB state machine. Inside that base step, two overridden methods fire: infect() temporarily widens who counts as a valid transmission target (superinfection), then calls set_prognoses(), which bookkeeps genuinely NEW infections only, but calls _assign_transmitted_strains for every uid, new or super-infected. Separately, whenever the state machine calls transition(uids, to, rng), the override runs the real transition via super() first, then branches on the FROM-state: leaving INFECTION or NON_INFECTIOUS into CLEARED wipes all strains; leaving either into an active state runs _apply_strain_progression (the bottleneck + random acquisition). step_die() clears strains on death. Every later slide zooms into one box on this diagram.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Clean separation of concerns: ResistanceConnector runs once per step and only ever touches rel_trans — it calls AgentStrains.effective_rel_trans(infectious_uids), which returns the MAXIMUM fitness across every strain an infectious agent carries (not a sum or average — a co-infected agent's transmission risk is capped at their fittest strain, never additive). It explicitly leaves 'carries zero strains' (legacy/pre-overlay seed) at multiplier 1.0, while 'carries only zero-fitness strains' is correctly zeroed out. After that, rel_trans flows into ordinary Starsim network sampling — the connector never decides WHICH strain transmits. That happens separately in MultiStrainTB.set_prognoses, which calls _assign_transmitted_strains: for agents with a real infector, AgentStrains.sample_transmitted_strain draws a fitness-weighted multinomial pick via inverse-CDF sampling; for agents with no real source (immigration, seeded infections), a fallback draws from the catalog's init_prev distribution instead. Either way, if the recipient already carries the picked strain, the write is skipped and counted in _n_duplicate_blocked_this_step rather than double-counting.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trick that lets superinfection exist without modifying Starsim's core Infection class at all — a temporary, surgical change told to the base infect() method and immediately corrected afterward. Default alphas mean only INFECTION-state (latent) agents are eligible for superinfection out of the box — alpha_act for the three active-disease states default to 0. For eligible states, MultiStrainTB briefly flips susceptible=True and multiplies rel_sus by alpha for exactly those agents, calls the ordinary super().infect() — which is completely unaware anything unusual happened — then restores original values in a finally block, even if an exception fires partway through. set_prognoses then treats 'was this a new infection' as fully orthogonal to 'did this agent get selected as a transmission target': new_uids (susceptible-or-cleared intersected with the selection) get full new-case bookkeeping; _assign_transmitted_strains runs on the FULL uids set regardless, so a superinfected agent's TB state and timers stay completely undisturbed — the only observable effect is a second carries_&lt;uid&gt; flag turning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Both resolvers are pure, stateless-except-for-RNG helpers that mutate AgentStrains in place. ProgressionResolver.resolve runs only on agents who just activated to ASYMPTOMATIC: it finds who's even eligible for a bottleneck (a single-strain agent has nothing to bottleneck), rolls one Bernoulli(1 - p_multi) per multi-strain agent, and — critically — builds the multinomial weight matrix from the RAW 0/1 carrier mask with NO fitness multiplication anywhere in the function. That's the code-level proof that progression really is equal-probability across carried strains, matching the spec's requirement that fitness costs live only at transmission. AcquisitionResolver.random_acquisition is a double loop — outer over configured drugs, inner over every catalog strain — skipping immediately if a strain is already resistant to that drug, looking up the +1-bit target variant, and rolling one Bernoulli per current carrier. Hits call add_strain, which only sets bits that weren't already set — the source strain is never touched, so the agent genuinely grows their carried-strain set. Both fire from the same call site, _apply_strain_progression, itself called from transition() — which is why they always trigger together at the INFECTION-exit transition, despite implementing independent mechanisms.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classes divide the work, and none of them live in the same file. StrainAwareTx.administer is pure computation with no side effects on the TB module — it rolls one adherence Bernoulli per agent up front (a non-adherent agent fails on every strain simultaneously, not independently), then rolls one Starsim ss.bernoulli parameter per catalog strain (p_cure_strain_&lt;i&gt;), and declares success only if every strain that agent actually carries got cured. StrainAwareTxDelivery.step_start_treatment branches by TB state: latent (INFECTION) agents never call administer() at all — _clear_susceptible_strains directly removes any strain fully covered by the regimen, and if resistant strains remain, selective_acquisition runs immediately, no waiting for an 'outcome.' Active-disease agents follow pre-roll/resolve: administer() runs once at start, outcomes are stashed, and step_success/step_failures/step_relapses realize them later — step_failures and step_relapses both call selective_acquisition, which (unlike random_acquisition) REPLACES the susceptible strain via replace_strain rather than adding alongside it. selective_acquisition also scales its per-drug probability by a TB-state modifier passed via tb=tb — that's how ω_R,d ends up state-dependent.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strain_cure_probs is the single function every strain-aware treatment or TPT product calls once, at construction time, to precompute a per-strain cure-probability vector. The formula: for each catalog strain, take the regimen's per-drug efficacies, zero out (or apply a configurable resistance_penalty to) any drug the strain resists, then combine across the regimen's drugs either by best-single-drug (combine='max', default) or independent trials (combine='parallel', 1 - prod(1-p)). The worked example on the right is literally the regimens.py docstring: a two-drug first-line regimen fully cures pan-susceptible and INH-resistant strains (RIF alone still works) but has zero efficacy against MDR, where both drugs are penalized. The reuse story for TPT is the more interesting engineering point: StrainAwareTPTTx does NOT reimplement any of this — it builds its own Regimen exactly like StrainAwareTx, and passes the same AcquisitionResolver a different state-modifier dict (DEFAULT_TPT_STATE_MODIFIERS: INFECTION 0.05, NON_INFECTIOUS 0.5, ASYMPTOMATIC/SYMPTOMATIC 1.0), because the clinical risk of acquiring resistance under preventive therapy differs from acquiring it under active treatment. That's the entire diff between a treatment product and a TPT product at the acquisition-mechanics level — one dict of multipliers, injected into shared machinery.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longest pipeline in the codebase. DSTDx.administer runs, per catalog strain, an independent dropout chain before ever asking about sensitivity/specificity: p_sample and p_culture model specimen and culture failure (default 1.0/off, configurable); p_obs_strain_&lt;idx&gt; models whether a carried strain is observable in a mixed infection at all — defaulting to that strain's FITNESS, a deliberate choice that fitter (usually more abundant) strains are more likely detected. Only strains surviving all three gates get a sensitivity/specificity roll per drug, and the result is explicitly aggregated to AGENT level — 'this agent's panel came back RIF-resistant' — never a specific strain identity, matching the spec's DST requirement. DSTDelivery just orchestrates: select-eligible (coverage filter), administer, then write per-drug observed_&lt;drug&gt;_resistant BoolArr state. RegimenRouter.matches() builds a reusable eligibility lambda: base eligible (alive, diagnosed, DST-tested, not on treatment) intersected with whichever observed_&lt;drug&gt;_resistant combination was requested — that lambda plugs straight into a StrainAwareTxDelivery's eligibility=, and is literally how first-/second-line routing happens with zero custom glue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payoff — every mechanism discussed so far is assembled by exactly one constructor. Reading it top to bottom is reading the whole overlay's dependency order: strain presets or a user-supplied list resolve into a StrainCatalog, which constructs MultiStrainTB; a ResistanceConnector is added to sim.connectors by default (MultiStrainTB.init_post actually warns if you disable it while resistance is on, since without it fitness never touches rel_trans); if a cascade mode is requested, build_care_cascade assembles the real diagnosis-and-treatment intervention list — the four named modes ('basic', 'routed', 'dst_routed_inh', 'tx_pressure') are genuinely different wiring, not just parameter tweaks: 'routed' is the one that actually instantiates a RegimenRouter and calls .matches() to split a population across first-/second-line StrainAwareTxDelivery instances. StrainResults and DuplicateStrainAnalyzer attach by default so per-strain result channels and the duplicate-block bias counter populate without being asked for. Every departure from this default wiring is just a keyword argument on this one constructor, and now maps to a specific class covered earlier in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Closing slide — where to verify or extend anything claimed in this deck, rather than trusting the slides themselves. The four test files under tbsim/resistance/docs/ are organized by exactly the boundaries this deck used: natural_history covers transmission/superinfection/progression/acquisition; interventions covers treatment/TPT/DST/routing; wiring covers cross-cutting concerns like the connector and analyzers; scenarios runs full epidemiological configurations end to end — the closest thing to an integration test for the ResistanceSim assembly. Data-model correctness for StrainSpec/StrainCatalog/AgentStrains has its own unit test file, tests/test_resistance.py. Beyond the tests, resistance_architecture.md section 12 is a literal table mapping every spec requirement to the function implementing it — the audit trail if a claim here and the code ever disagree. Suggested onboarding order for extending this code — strains.py, resolvers.py, multistrain_tb.py, connector.py, tx.py/diagnostics.py, sim.py — is the actual import dependency order from slide 2, so you never hit a class that depends on something you haven't read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TBsim Resistance Overlay</a:t>
            </a:r>
          </a:p>
          <a:p>
            <a:r>
              <a:rPr sz="2400">
                <a:solidFill>
                  <a:srgbClr val="8FB7D6"/>
                </a:solidFill>
              </a:rPr>
              <a:t>Technical implementation &amp; how it all connects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160520"/>
            <a:ext cx="12191695" cy="5080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CCCCCC"/>
                </a:solidFill>
              </a:rPr>
              <a:t>tbsim.resistance  —  MultiStrainTB, StrainCatalog/AgentStrains, StrainAwareTx/DST/TPT, ResistanceConnector, StrainResults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43712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9A9A9A"/>
                </a:solidFill>
              </a:rPr>
              <a:t>Minerva and Cliff</a:t>
            </a:r>
            <a:br>
              <a:rPr lang="en-US" sz="1400" dirty="0">
                <a:solidFill>
                  <a:srgbClr val="9A9A9A"/>
                </a:solidFill>
              </a:rPr>
            </a:br>
            <a:r>
              <a:rPr lang="en-US" sz="1400" dirty="0">
                <a:solidFill>
                  <a:srgbClr val="9A9A9A"/>
                </a:solidFill>
              </a:rPr>
              <a:t>July 8</a:t>
            </a:r>
            <a:endParaRPr sz="1400" dirty="0">
              <a:solidFill>
                <a:srgbClr val="9A9A9A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FB7D6"/>
                </a:solidFill>
              </a:rPr>
              <a:t>MODULE MAP</a:t>
            </a:r>
          </a:p>
          <a:p>
            <a:r>
              <a:rPr sz="2800" b="1">
                <a:solidFill>
                  <a:srgbClr val="FFFFFF"/>
                </a:solidFill>
              </a:rPr>
              <a:t>Ten files, one acyclic import 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463040" cy="5080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AAAAA"/>
                </a:solidFill>
              </a:rPr>
              <a:t>2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3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22B45"/>
                </a:solidFill>
              </a:rPr>
              <a:t>•  strains.py</a:t>
            </a:r>
            <a:r>
              <a:rPr sz="1700">
                <a:solidFill>
                  <a:srgbClr val="444444"/>
                </a:solidFill>
              </a:rPr>
              <a:t> — StrainSpec, StrainCatalog, AgentStrains. Depends only on numpy/starsim.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22B45"/>
                </a:solidFill>
              </a:rPr>
              <a:t>•  resolvers.py</a:t>
            </a:r>
            <a:r>
              <a:rPr sz="1700">
                <a:solidFill>
                  <a:srgbClr val="444444"/>
                </a:solidFill>
              </a:rPr>
              <a:t> — ProgressionResolver, AcquisitionResolver. Pure helpers; lazily imports TBS.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22B45"/>
                </a:solidFill>
              </a:rPr>
              <a:t>•  connector.py</a:t>
            </a:r>
            <a:r>
              <a:rPr sz="1700">
                <a:solidFill>
                  <a:srgbClr val="444444"/>
                </a:solidFill>
              </a:rPr>
              <a:t> — ResistanceConnector(ss.Connector). Duck-types agent_strains; no MultiStrainTB import.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22B45"/>
                </a:solidFill>
              </a:rPr>
              <a:t>•  multistrain_tb.py</a:t>
            </a:r>
            <a:r>
              <a:rPr sz="1700">
                <a:solidFill>
                  <a:srgbClr val="444444"/>
                </a:solidFill>
              </a:rPr>
              <a:t> — MultiStrainTB(TB). Imports ..tb, .resolvers, .strains.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22B45"/>
                </a:solidFill>
              </a:rPr>
              <a:t>•  regimens.py</a:t>
            </a:r>
            <a:r>
              <a:rPr sz="1700">
                <a:solidFill>
                  <a:srgbClr val="444444"/>
                </a:solidFill>
              </a:rPr>
              <a:t> — Regimen. Depends only on numpy.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22B45"/>
                </a:solidFill>
              </a:rPr>
              <a:t>•  tx.py / tpt.py</a:t>
            </a:r>
            <a:r>
              <a:rPr sz="1700">
                <a:solidFill>
                  <a:srgbClr val="444444"/>
                </a:solidFill>
              </a:rPr>
              <a:t> — StrainAwareTx(Tx), StrainAwareTxDelivery(TxDelivery), StrainAwareTPTTx(TPTTx).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22B45"/>
                </a:solidFill>
              </a:rPr>
              <a:t>•  diagnostics.py</a:t>
            </a:r>
            <a:r>
              <a:rPr sz="1700">
                <a:solidFill>
                  <a:srgbClr val="444444"/>
                </a:solidFill>
              </a:rPr>
              <a:t> — DSTDx(ss.Product), DSTDelivery(ss.Intervention), RegimenRouter.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22B45"/>
                </a:solidFill>
              </a:rPr>
              <a:t>•  sim.py</a:t>
            </a:r>
            <a:r>
              <a:rPr sz="1700">
                <a:solidFill>
                  <a:srgbClr val="444444"/>
                </a:solidFill>
              </a:rPr>
              <a:t> — ResistanceSim(tbsim.Sim), build_care_cascade. Wires everything above.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450000"/>
            <a:ext cx="10881360" cy="95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3A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77800" bIns="127000" rtlCol="0" anchor="ctr"/>
          <a:lstStyle/>
          <a:p>
            <a:pPr>
              <a:spcAft>
                <a:spcPts val="200"/>
              </a:spcAft>
            </a:pPr>
            <a:r>
              <a:rPr sz="1300" dirty="0" err="1">
                <a:solidFill>
                  <a:srgbClr val="E0E0F0"/>
                </a:solidFill>
                <a:latin typeface="Consolas"/>
              </a:rPr>
              <a:t>tbsim</a:t>
            </a:r>
            <a:r>
              <a:rPr sz="1300" dirty="0">
                <a:solidFill>
                  <a:srgbClr val="E0E0F0"/>
                </a:solidFill>
                <a:latin typeface="Consolas"/>
              </a:rPr>
              <a:t>/</a:t>
            </a:r>
            <a:r>
              <a:rPr sz="1300" dirty="0" err="1">
                <a:solidFill>
                  <a:srgbClr val="E0E0F0"/>
                </a:solidFill>
                <a:latin typeface="Consolas"/>
              </a:rPr>
              <a:t>tb.py</a:t>
            </a:r>
            <a:r>
              <a:rPr sz="1300" dirty="0">
                <a:solidFill>
                  <a:srgbClr val="E0E0F0"/>
                </a:solidFill>
                <a:latin typeface="Consolas"/>
              </a:rPr>
              <a:t>            -&gt;  zero imports from </a:t>
            </a:r>
            <a:r>
              <a:rPr sz="1300" dirty="0" err="1">
                <a:solidFill>
                  <a:srgbClr val="E0E0F0"/>
                </a:solidFill>
                <a:latin typeface="Consolas"/>
              </a:rPr>
              <a:t>tbsim.resistance</a:t>
            </a:r>
            <a:endParaRPr sz="1300" dirty="0">
              <a:solidFill>
                <a:srgbClr val="E0E0F0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300" dirty="0" err="1">
                <a:solidFill>
                  <a:srgbClr val="E0E0F0"/>
                </a:solidFill>
                <a:latin typeface="Consolas"/>
              </a:rPr>
              <a:t>tbsim</a:t>
            </a:r>
            <a:r>
              <a:rPr sz="1300" dirty="0">
                <a:solidFill>
                  <a:srgbClr val="E0E0F0"/>
                </a:solidFill>
                <a:latin typeface="Consolas"/>
              </a:rPr>
              <a:t>/resistance/*.</a:t>
            </a:r>
            <a:r>
              <a:rPr sz="1300" dirty="0" err="1">
                <a:solidFill>
                  <a:srgbClr val="E0E0F0"/>
                </a:solidFill>
                <a:latin typeface="Consolas"/>
              </a:rPr>
              <a:t>py</a:t>
            </a:r>
            <a:r>
              <a:rPr sz="1300" dirty="0">
                <a:solidFill>
                  <a:srgbClr val="E0E0F0"/>
                </a:solidFill>
                <a:latin typeface="Consolas"/>
              </a:rPr>
              <a:t>  -&gt;  from ..tb import TB, TBS, </a:t>
            </a:r>
            <a:r>
              <a:rPr sz="1300" dirty="0" err="1">
                <a:solidFill>
                  <a:srgbClr val="E0E0F0"/>
                </a:solidFill>
                <a:latin typeface="Consolas"/>
              </a:rPr>
              <a:t>get_tb</a:t>
            </a:r>
            <a:r>
              <a:rPr sz="1300" dirty="0">
                <a:solidFill>
                  <a:srgbClr val="E0E0F0"/>
                </a:solidFill>
                <a:latin typeface="Consolas"/>
              </a:rPr>
              <a:t>   (relative only, never `import </a:t>
            </a:r>
            <a:r>
              <a:rPr sz="1300" dirty="0" err="1">
                <a:solidFill>
                  <a:srgbClr val="E0E0F0"/>
                </a:solidFill>
                <a:latin typeface="Consolas"/>
              </a:rPr>
              <a:t>tbsim</a:t>
            </a:r>
            <a:r>
              <a:rPr sz="1300" dirty="0">
                <a:solidFill>
                  <a:srgbClr val="E0E0F0"/>
                </a:solidFill>
                <a:latin typeface="Consolas"/>
              </a:rPr>
              <a:t>`)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FB7D6"/>
                </a:solidFill>
              </a:rPr>
              <a:t>CLASS HIERARCHY</a:t>
            </a:r>
          </a:p>
          <a:p>
            <a:r>
              <a:rPr sz="2800" b="1">
                <a:solidFill>
                  <a:srgbClr val="FFFFFF"/>
                </a:solidFill>
              </a:rPr>
              <a:t>Every class subclasses a Starsim primitive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463040" cy="5080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AAAAA"/>
                </a:solidFill>
              </a:rPr>
              <a:t>3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5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50" b="1">
                <a:solidFill>
                  <a:srgbClr val="122B45"/>
                </a:solidFill>
              </a:rPr>
              <a:t>•  MultiStrainTB</a:t>
            </a:r>
            <a:r>
              <a:rPr sz="1650">
                <a:solidFill>
                  <a:srgbClr val="444444"/>
                </a:solidFill>
              </a:rPr>
              <a:t> extends TB (tbsim/tb.py) directly.</a:t>
            </a:r>
          </a:p>
          <a:p>
            <a:pPr>
              <a:spcAft>
                <a:spcPts val="1000"/>
              </a:spcAft>
            </a:pPr>
            <a:r>
              <a:rPr sz="1650" b="1">
                <a:solidFill>
                  <a:srgbClr val="122B45"/>
                </a:solidFill>
              </a:rPr>
              <a:t>•  StrainAwareTx</a:t>
            </a:r>
            <a:r>
              <a:rPr sz="1650">
                <a:solidFill>
                  <a:srgbClr val="444444"/>
                </a:solidFill>
              </a:rPr>
              <a:t> extends Tx → ss.Product, same lineage as FirstLine, SecondLine, DOTS.</a:t>
            </a:r>
          </a:p>
          <a:p>
            <a:pPr>
              <a:spcAft>
                <a:spcPts val="1000"/>
              </a:spcAft>
            </a:pPr>
            <a:r>
              <a:rPr sz="1650" b="1">
                <a:solidFill>
                  <a:srgbClr val="122B45"/>
                </a:solidFill>
              </a:rPr>
              <a:t>•  StrainAwareTxDelivery</a:t>
            </a:r>
            <a:r>
              <a:rPr sz="1650">
                <a:solidFill>
                  <a:srgbClr val="444444"/>
                </a:solidFill>
              </a:rPr>
              <a:t> extends TxDelivery → ss.Intervention, same lineage as TxDelivery itself.</a:t>
            </a:r>
          </a:p>
          <a:p>
            <a:pPr>
              <a:spcAft>
                <a:spcPts val="1000"/>
              </a:spcAft>
            </a:pPr>
            <a:r>
              <a:rPr sz="1650" b="1">
                <a:solidFill>
                  <a:srgbClr val="122B45"/>
                </a:solidFill>
              </a:rPr>
              <a:t>•  StrainAwareTPTTx</a:t>
            </a:r>
            <a:r>
              <a:rPr sz="1650">
                <a:solidFill>
                  <a:srgbClr val="444444"/>
                </a:solidFill>
              </a:rPr>
              <a:t> extends TPTTx → ss.Product.</a:t>
            </a:r>
          </a:p>
          <a:p>
            <a:pPr>
              <a:spcAft>
                <a:spcPts val="1000"/>
              </a:spcAft>
            </a:pPr>
            <a:r>
              <a:rPr sz="1650" b="1">
                <a:solidFill>
                  <a:srgbClr val="122B45"/>
                </a:solidFill>
              </a:rPr>
              <a:t>•  DSTDx</a:t>
            </a:r>
            <a:r>
              <a:rPr sz="1650">
                <a:solidFill>
                  <a:srgbClr val="444444"/>
                </a:solidFill>
              </a:rPr>
              <a:t> extends ss.Product directly, mirroring Dx / Tx / TPTTx.</a:t>
            </a:r>
          </a:p>
          <a:p>
            <a:pPr>
              <a:spcAft>
                <a:spcPts val="1000"/>
              </a:spcAft>
            </a:pPr>
            <a:r>
              <a:rPr sz="1650" b="1">
                <a:solidFill>
                  <a:srgbClr val="122B45"/>
                </a:solidFill>
              </a:rPr>
              <a:t>•  DSTDelivery</a:t>
            </a:r>
            <a:r>
              <a:rPr sz="1650">
                <a:solidFill>
                  <a:srgbClr val="444444"/>
                </a:solidFill>
              </a:rPr>
              <a:t> extends ss.Intervention directly, mirroring DxDelivery / TxDelivery.</a:t>
            </a:r>
          </a:p>
          <a:p>
            <a:pPr>
              <a:spcAft>
                <a:spcPts val="1000"/>
              </a:spcAft>
            </a:pPr>
            <a:r>
              <a:rPr sz="1650" b="1">
                <a:solidFill>
                  <a:srgbClr val="122B45"/>
                </a:solidFill>
              </a:rPr>
              <a:t>•  ResistanceConnector</a:t>
            </a:r>
            <a:r>
              <a:rPr sz="1650">
                <a:solidFill>
                  <a:srgbClr val="444444"/>
                </a:solidFill>
              </a:rPr>
              <a:t> extends ss.Connector — the only Connector currently in tbsim.</a:t>
            </a:r>
          </a:p>
          <a:p>
            <a:pPr>
              <a:spcAft>
                <a:spcPts val="1000"/>
              </a:spcAft>
            </a:pPr>
            <a:r>
              <a:rPr sz="1650" b="1">
                <a:solidFill>
                  <a:srgbClr val="122B45"/>
                </a:solidFill>
              </a:rPr>
              <a:t>•  StrainResults, DuplicateStrainAnalyzer</a:t>
            </a:r>
            <a:r>
              <a:rPr sz="1650">
                <a:solidFill>
                  <a:srgbClr val="444444"/>
                </a:solidFill>
              </a:rPr>
              <a:t> extend ss.Analyzer, alongside DwellTime, HouseholdStats.</a:t>
            </a:r>
          </a:p>
          <a:p>
            <a:pPr>
              <a:spcAft>
                <a:spcPts val="1000"/>
              </a:spcAft>
            </a:pPr>
            <a:r>
              <a:rPr sz="1650" b="1">
                <a:solidFill>
                  <a:srgbClr val="122B45"/>
                </a:solidFill>
              </a:rPr>
              <a:t>•  Plain-object helpers (not Starsim modules)</a:t>
            </a:r>
            <a:r>
              <a:rPr sz="1650">
                <a:solidFill>
                  <a:srgbClr val="444444"/>
                </a:solidFill>
              </a:rPr>
              <a:t> — StrainSpec, StrainCatalog, AgentStrains, Regimen, ProgressionResolver, AcquisitionResolver, RegimenRouter: no sim lifecycle, just constructors and methods.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FB7D6"/>
                </a:solidFill>
              </a:rPr>
              <a:t>DATA MODEL</a:t>
            </a:r>
          </a:p>
          <a:p>
            <a:r>
              <a:rPr sz="2800" b="1">
                <a:solidFill>
                  <a:srgbClr val="FFFFFF"/>
                </a:solidFill>
              </a:rPr>
              <a:t>Spec -&gt; Catalog -&gt; AgentStrains construction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463040" cy="5080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AAAAA"/>
                </a:solidFill>
              </a:rPr>
              <a:t>4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60350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50" b="1">
                <a:solidFill>
                  <a:srgbClr val="122B45"/>
                </a:solidFill>
              </a:rPr>
              <a:t>•  StrainCatalog</a:t>
            </a:r>
            <a:r>
              <a:rPr sz="1650">
                <a:solidFill>
                  <a:srgbClr val="444444"/>
                </a:solidFill>
              </a:rPr>
              <a:t> expands StrainSpec objects into ordered numpy arrays (resistance, fitness, init_prev).</a:t>
            </a:r>
          </a:p>
          <a:p>
            <a:pPr>
              <a:spcAft>
                <a:spcPts val="1000"/>
              </a:spcAft>
            </a:pPr>
            <a:r>
              <a:rPr sz="1650" b="1">
                <a:solidFill>
                  <a:srgbClr val="122B45"/>
                </a:solidFill>
              </a:rPr>
              <a:t>•  AgentStrains</a:t>
            </a:r>
            <a:r>
              <a:rPr sz="1650">
                <a:solidFill>
                  <a:srgbClr val="444444"/>
                </a:solidFill>
              </a:rPr>
              <a:t> allocates one ss.BoolArr named carries_&lt;uid&gt; per strain, defined on MultiStrainTB directly.</a:t>
            </a:r>
          </a:p>
          <a:p>
            <a:pPr>
              <a:spcAft>
                <a:spcPts val="1000"/>
              </a:spcAft>
            </a:pPr>
            <a:r>
              <a:rPr sz="1650" b="1">
                <a:solidFill>
                  <a:srgbClr val="122B45"/>
                </a:solidFill>
              </a:rPr>
              <a:t>•  Two resolvers</a:t>
            </a:r>
            <a:r>
              <a:rPr sz="1650">
                <a:solidFill>
                  <a:srgbClr val="444444"/>
                </a:solidFill>
              </a:rPr>
              <a:t> (ProgressionResolver, AcquisitionResolver) are constructed here too, from the same kwargs.</a:t>
            </a:r>
          </a:p>
          <a:p>
            <a:pPr>
              <a:spcAft>
                <a:spcPts val="1000"/>
              </a:spcAft>
            </a:pPr>
            <a:r>
              <a:rPr sz="1650" b="1">
                <a:solidFill>
                  <a:srgbClr val="122B45"/>
                </a:solidFill>
              </a:rPr>
              <a:t>•  alpha_super / alpha_act</a:t>
            </a:r>
            <a:r>
              <a:rPr sz="1650">
                <a:solidFill>
                  <a:srgbClr val="444444"/>
                </a:solidFill>
              </a:rPr>
              <a:t> default from rr_reinfection_rec via _finalize_alpha_defaults().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554480"/>
            <a:ext cx="4937760" cy="39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3A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77800" bIns="127000" rtlCol="0" anchor="t"/>
          <a:lstStyle/>
          <a:p>
            <a:pPr>
              <a:spcAft>
                <a:spcPts val="200"/>
              </a:spcAft>
            </a:pPr>
            <a:r>
              <a:rPr sz="1200" dirty="0">
                <a:solidFill>
                  <a:srgbClr val="E0E0F0"/>
                </a:solidFill>
                <a:latin typeface="Consolas"/>
              </a:rPr>
              <a:t>def _</a:t>
            </a:r>
            <a:r>
              <a:rPr sz="1200" dirty="0" err="1">
                <a:solidFill>
                  <a:srgbClr val="E0E0F0"/>
                </a:solidFill>
                <a:latin typeface="Consolas"/>
              </a:rPr>
              <a:t>init_strains</a:t>
            </a:r>
            <a:r>
              <a:rPr sz="1200" dirty="0">
                <a:solidFill>
                  <a:srgbClr val="E0E0F0"/>
                </a:solidFill>
                <a:latin typeface="Consolas"/>
              </a:rPr>
              <a:t>(self, strains, **</a:t>
            </a:r>
            <a:r>
              <a:rPr sz="1200" dirty="0" err="1">
                <a:solidFill>
                  <a:srgbClr val="E0E0F0"/>
                </a:solidFill>
                <a:latin typeface="Consolas"/>
              </a:rPr>
              <a:t>kwargs</a:t>
            </a:r>
            <a:r>
              <a:rPr sz="1200" dirty="0">
                <a:solidFill>
                  <a:srgbClr val="E0E0F0"/>
                </a:solidFill>
                <a:latin typeface="Consolas"/>
              </a:rPr>
              <a:t>):</a:t>
            </a:r>
          </a:p>
          <a:p>
            <a:pPr>
              <a:spcAft>
                <a:spcPts val="200"/>
              </a:spcAft>
            </a:pPr>
            <a:r>
              <a:rPr sz="1200" dirty="0">
                <a:solidFill>
                  <a:srgbClr val="E0E0F0"/>
                </a:solidFill>
                <a:latin typeface="Consolas"/>
              </a:rPr>
              <a:t>  catalog = </a:t>
            </a:r>
            <a:r>
              <a:rPr sz="1200" dirty="0" err="1">
                <a:solidFill>
                  <a:srgbClr val="E0E0F0"/>
                </a:solidFill>
                <a:latin typeface="Consolas"/>
              </a:rPr>
              <a:t>StrainCatalog</a:t>
            </a:r>
            <a:r>
              <a:rPr sz="1200" dirty="0">
                <a:solidFill>
                  <a:srgbClr val="E0E0F0"/>
                </a:solidFill>
                <a:latin typeface="Consolas"/>
              </a:rPr>
              <a:t>(list(strains))</a:t>
            </a:r>
          </a:p>
          <a:p>
            <a:pPr>
              <a:spcAft>
                <a:spcPts val="200"/>
              </a:spcAft>
            </a:pPr>
            <a:r>
              <a:rPr sz="1200" dirty="0">
                <a:solidFill>
                  <a:srgbClr val="E0E0F0"/>
                </a:solidFill>
                <a:latin typeface="Consolas"/>
              </a:rPr>
              <a:t>  </a:t>
            </a:r>
            <a:r>
              <a:rPr sz="1200" dirty="0" err="1">
                <a:solidFill>
                  <a:srgbClr val="E0E0F0"/>
                </a:solidFill>
                <a:latin typeface="Consolas"/>
              </a:rPr>
              <a:t>self.agent_strains</a:t>
            </a:r>
            <a:r>
              <a:rPr sz="1200" dirty="0">
                <a:solidFill>
                  <a:srgbClr val="E0E0F0"/>
                </a:solidFill>
                <a:latin typeface="Consolas"/>
              </a:rPr>
              <a:t> = </a:t>
            </a:r>
            <a:r>
              <a:rPr sz="1200" dirty="0" err="1">
                <a:solidFill>
                  <a:srgbClr val="E0E0F0"/>
                </a:solidFill>
                <a:latin typeface="Consolas"/>
              </a:rPr>
              <a:t>AgentStrains</a:t>
            </a:r>
            <a:r>
              <a:rPr sz="1200" dirty="0">
                <a:solidFill>
                  <a:srgbClr val="E0E0F0"/>
                </a:solidFill>
                <a:latin typeface="Consolas"/>
              </a:rPr>
              <a:t>(catalog)</a:t>
            </a:r>
          </a:p>
          <a:p>
            <a:pPr>
              <a:spcAft>
                <a:spcPts val="200"/>
              </a:spcAft>
            </a:pPr>
            <a:r>
              <a:rPr sz="1200" dirty="0">
                <a:solidFill>
                  <a:srgbClr val="E0E0F0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200" dirty="0">
                <a:solidFill>
                  <a:srgbClr val="E0E0F0"/>
                </a:solidFill>
                <a:latin typeface="Consolas"/>
              </a:rPr>
              <a:t>  self._</a:t>
            </a:r>
            <a:r>
              <a:rPr sz="1200" dirty="0" err="1">
                <a:solidFill>
                  <a:srgbClr val="E0E0F0"/>
                </a:solidFill>
                <a:latin typeface="Consolas"/>
              </a:rPr>
              <a:t>progression_resolver</a:t>
            </a:r>
            <a:r>
              <a:rPr sz="1200" dirty="0">
                <a:solidFill>
                  <a:srgbClr val="E0E0F0"/>
                </a:solidFill>
                <a:latin typeface="Consolas"/>
              </a:rPr>
              <a:t> = </a:t>
            </a:r>
            <a:r>
              <a:rPr sz="1200" dirty="0" err="1">
                <a:solidFill>
                  <a:srgbClr val="E0E0F0"/>
                </a:solidFill>
                <a:latin typeface="Consolas"/>
              </a:rPr>
              <a:t>ProgressionResolver</a:t>
            </a:r>
            <a:r>
              <a:rPr sz="1200" dirty="0">
                <a:solidFill>
                  <a:srgbClr val="E0E0F0"/>
                </a:solidFill>
                <a:latin typeface="Consolas"/>
              </a:rPr>
              <a:t>(</a:t>
            </a:r>
          </a:p>
          <a:p>
            <a:pPr>
              <a:spcAft>
                <a:spcPts val="200"/>
              </a:spcAft>
            </a:pPr>
            <a:r>
              <a:rPr sz="1200" dirty="0">
                <a:solidFill>
                  <a:srgbClr val="E0E0F0"/>
                </a:solidFill>
                <a:latin typeface="Consolas"/>
              </a:rPr>
              <a:t>      mode=</a:t>
            </a:r>
            <a:r>
              <a:rPr sz="1200" dirty="0" err="1">
                <a:solidFill>
                  <a:srgbClr val="E0E0F0"/>
                </a:solidFill>
                <a:latin typeface="Consolas"/>
              </a:rPr>
              <a:t>kwargs.pop</a:t>
            </a:r>
            <a:r>
              <a:rPr sz="1200" dirty="0">
                <a:solidFill>
                  <a:srgbClr val="E0E0F0"/>
                </a:solidFill>
                <a:latin typeface="Consolas"/>
              </a:rPr>
              <a:t>('</a:t>
            </a:r>
            <a:r>
              <a:rPr sz="1200" dirty="0" err="1">
                <a:solidFill>
                  <a:srgbClr val="E0E0F0"/>
                </a:solidFill>
                <a:latin typeface="Consolas"/>
              </a:rPr>
              <a:t>progression_mode','bottleneck</a:t>
            </a:r>
            <a:r>
              <a:rPr sz="1200" dirty="0">
                <a:solidFill>
                  <a:srgbClr val="E0E0F0"/>
                </a:solidFill>
                <a:latin typeface="Consolas"/>
              </a:rPr>
              <a:t>'),</a:t>
            </a:r>
          </a:p>
          <a:p>
            <a:pPr>
              <a:spcAft>
                <a:spcPts val="200"/>
              </a:spcAft>
            </a:pPr>
            <a:r>
              <a:rPr sz="1200" dirty="0">
                <a:solidFill>
                  <a:srgbClr val="E0E0F0"/>
                </a:solidFill>
                <a:latin typeface="Consolas"/>
              </a:rPr>
              <a:t>      </a:t>
            </a:r>
            <a:r>
              <a:rPr sz="1200" dirty="0" err="1">
                <a:solidFill>
                  <a:srgbClr val="E0E0F0"/>
                </a:solidFill>
                <a:latin typeface="Consolas"/>
              </a:rPr>
              <a:t>p_multi</a:t>
            </a:r>
            <a:r>
              <a:rPr sz="1200" dirty="0">
                <a:solidFill>
                  <a:srgbClr val="E0E0F0"/>
                </a:solidFill>
                <a:latin typeface="Consolas"/>
              </a:rPr>
              <a:t>=</a:t>
            </a:r>
            <a:r>
              <a:rPr sz="1200" dirty="0" err="1">
                <a:solidFill>
                  <a:srgbClr val="E0E0F0"/>
                </a:solidFill>
                <a:latin typeface="Consolas"/>
              </a:rPr>
              <a:t>kwargs.pop</a:t>
            </a:r>
            <a:r>
              <a:rPr sz="1200" dirty="0">
                <a:solidFill>
                  <a:srgbClr val="E0E0F0"/>
                </a:solidFill>
                <a:latin typeface="Consolas"/>
              </a:rPr>
              <a:t>('</a:t>
            </a:r>
            <a:r>
              <a:rPr sz="1200" dirty="0" err="1">
                <a:solidFill>
                  <a:srgbClr val="E0E0F0"/>
                </a:solidFill>
                <a:latin typeface="Consolas"/>
              </a:rPr>
              <a:t>p_multi</a:t>
            </a:r>
            <a:r>
              <a:rPr sz="1200" dirty="0">
                <a:solidFill>
                  <a:srgbClr val="E0E0F0"/>
                </a:solidFill>
                <a:latin typeface="Consolas"/>
              </a:rPr>
              <a:t>', 1.0))</a:t>
            </a:r>
          </a:p>
          <a:p>
            <a:pPr>
              <a:spcAft>
                <a:spcPts val="200"/>
              </a:spcAft>
            </a:pPr>
            <a:r>
              <a:rPr sz="1200" dirty="0">
                <a:solidFill>
                  <a:srgbClr val="E0E0F0"/>
                </a:solidFill>
                <a:latin typeface="Consolas"/>
              </a:rPr>
              <a:t>  self._</a:t>
            </a:r>
            <a:r>
              <a:rPr sz="1200" dirty="0" err="1">
                <a:solidFill>
                  <a:srgbClr val="E0E0F0"/>
                </a:solidFill>
                <a:latin typeface="Consolas"/>
              </a:rPr>
              <a:t>acquisition_resolver</a:t>
            </a:r>
            <a:r>
              <a:rPr sz="1200" dirty="0">
                <a:solidFill>
                  <a:srgbClr val="E0E0F0"/>
                </a:solidFill>
                <a:latin typeface="Consolas"/>
              </a:rPr>
              <a:t> = </a:t>
            </a:r>
            <a:r>
              <a:rPr sz="1200" dirty="0" err="1">
                <a:solidFill>
                  <a:srgbClr val="E0E0F0"/>
                </a:solidFill>
                <a:latin typeface="Consolas"/>
              </a:rPr>
              <a:t>AcquisitionResolver</a:t>
            </a:r>
            <a:r>
              <a:rPr sz="1200" dirty="0">
                <a:solidFill>
                  <a:srgbClr val="E0E0F0"/>
                </a:solidFill>
                <a:latin typeface="Consolas"/>
              </a:rPr>
              <a:t>(</a:t>
            </a:r>
          </a:p>
          <a:p>
            <a:pPr>
              <a:spcAft>
                <a:spcPts val="200"/>
              </a:spcAft>
            </a:pPr>
            <a:r>
              <a:rPr sz="1200" dirty="0">
                <a:solidFill>
                  <a:srgbClr val="E0E0F0"/>
                </a:solidFill>
                <a:latin typeface="Consolas"/>
              </a:rPr>
              <a:t>      </a:t>
            </a:r>
            <a:r>
              <a:rPr sz="1200" dirty="0" err="1">
                <a:solidFill>
                  <a:srgbClr val="E0E0F0"/>
                </a:solidFill>
                <a:latin typeface="Consolas"/>
              </a:rPr>
              <a:t>p_random</a:t>
            </a:r>
            <a:r>
              <a:rPr sz="1200" dirty="0">
                <a:solidFill>
                  <a:srgbClr val="E0E0F0"/>
                </a:solidFill>
                <a:latin typeface="Consolas"/>
              </a:rPr>
              <a:t>=</a:t>
            </a:r>
            <a:r>
              <a:rPr sz="1200" dirty="0" err="1">
                <a:solidFill>
                  <a:srgbClr val="E0E0F0"/>
                </a:solidFill>
                <a:latin typeface="Consolas"/>
              </a:rPr>
              <a:t>kwargs.pop</a:t>
            </a:r>
            <a:r>
              <a:rPr sz="1200" dirty="0">
                <a:solidFill>
                  <a:srgbClr val="E0E0F0"/>
                </a:solidFill>
                <a:latin typeface="Consolas"/>
              </a:rPr>
              <a:t>('</a:t>
            </a:r>
            <a:r>
              <a:rPr sz="1200" dirty="0" err="1">
                <a:solidFill>
                  <a:srgbClr val="E0E0F0"/>
                </a:solidFill>
                <a:latin typeface="Consolas"/>
              </a:rPr>
              <a:t>p_random_acquisition</a:t>
            </a:r>
            <a:r>
              <a:rPr sz="1200" dirty="0">
                <a:solidFill>
                  <a:srgbClr val="E0E0F0"/>
                </a:solidFill>
                <a:latin typeface="Consolas"/>
              </a:rPr>
              <a:t>'))</a:t>
            </a:r>
          </a:p>
          <a:p>
            <a:pPr>
              <a:spcAft>
                <a:spcPts val="200"/>
              </a:spcAft>
            </a:pPr>
            <a:r>
              <a:rPr sz="1200" dirty="0">
                <a:solidFill>
                  <a:srgbClr val="E0E0F0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200" dirty="0">
                <a:solidFill>
                  <a:srgbClr val="E0E0F0"/>
                </a:solidFill>
                <a:latin typeface="Consolas"/>
              </a:rPr>
              <a:t>  </a:t>
            </a:r>
            <a:r>
              <a:rPr sz="1200" dirty="0" err="1">
                <a:solidFill>
                  <a:srgbClr val="E0E0F0"/>
                </a:solidFill>
                <a:latin typeface="Consolas"/>
              </a:rPr>
              <a:t>self.define_states</a:t>
            </a:r>
            <a:r>
              <a:rPr sz="1200" dirty="0">
                <a:solidFill>
                  <a:srgbClr val="E0E0F0"/>
                </a:solidFill>
                <a:latin typeface="Consolas"/>
              </a:rPr>
              <a:t>(*</a:t>
            </a:r>
            <a:r>
              <a:rPr sz="1200" dirty="0" err="1">
                <a:solidFill>
                  <a:srgbClr val="E0E0F0"/>
                </a:solidFill>
                <a:latin typeface="Consolas"/>
              </a:rPr>
              <a:t>self.agent_strains.state_defs</a:t>
            </a:r>
            <a:r>
              <a:rPr sz="1200" dirty="0">
                <a:solidFill>
                  <a:srgbClr val="E0E0F0"/>
                </a:solidFill>
                <a:latin typeface="Consolas"/>
              </a:rPr>
              <a:t>())</a:t>
            </a:r>
          </a:p>
          <a:p>
            <a:pPr>
              <a:spcAft>
                <a:spcPts val="200"/>
              </a:spcAft>
            </a:pPr>
            <a:r>
              <a:rPr sz="1200" dirty="0">
                <a:solidFill>
                  <a:srgbClr val="E0E0F0"/>
                </a:solidFill>
                <a:latin typeface="Consolas"/>
              </a:rPr>
              <a:t>  </a:t>
            </a:r>
            <a:r>
              <a:rPr sz="1200" dirty="0" err="1">
                <a:solidFill>
                  <a:srgbClr val="E0E0F0"/>
                </a:solidFill>
                <a:latin typeface="Consolas"/>
              </a:rPr>
              <a:t>self.agent_strains.attach</a:t>
            </a:r>
            <a:r>
              <a:rPr sz="1200" dirty="0">
                <a:solidFill>
                  <a:srgbClr val="E0E0F0"/>
                </a:solidFill>
                <a:latin typeface="Consolas"/>
              </a:rPr>
              <a:t>(self)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FB7D6"/>
                </a:solidFill>
              </a:rPr>
              <a:t>CALL GRAPH</a:t>
            </a:r>
          </a:p>
          <a:p>
            <a:r>
              <a:rPr sz="2800" b="1">
                <a:solidFill>
                  <a:srgbClr val="FFFFFF"/>
                </a:solidFill>
              </a:rPr>
              <a:t>One simulation step, five overridden hooks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463040" cy="5080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AAAAA"/>
                </a:solidFill>
              </a:rPr>
              <a:t>5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400000" cy="820000"/>
          </a:xfrm>
          <a:prstGeom prst="roundRect">
            <a:avLst/>
          </a:prstGeom>
          <a:solidFill>
            <a:srgbClr val="122B45"/>
          </a:solidFill>
          <a:ln w="15875">
            <a:solidFill>
              <a:srgbClr val="2CA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/>
            <a:r>
              <a:rPr sz="1350" b="1">
                <a:solidFill>
                  <a:srgbClr val="FFFFFF"/>
                </a:solidFill>
              </a:rPr>
              <a:t>MultiStrainTB.step()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00000" y="1417320"/>
            <a:ext cx="7200000" cy="8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>
                <a:solidFill>
                  <a:srgbClr val="444444"/>
                </a:solidFill>
              </a:rPr>
              <a:t>resets 4 step counters, then super().step()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40080" y="2242320"/>
            <a:ext cx="0" cy="120000"/>
          </a:xfrm>
          <a:prstGeom prst="line">
            <a:avLst/>
          </a:prstGeom>
          <a:ln w="28575">
            <a:solidFill>
              <a:srgbClr val="2CA02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" y="2367320"/>
            <a:ext cx="3400000" cy="820000"/>
          </a:xfrm>
          <a:prstGeom prst="roundRect">
            <a:avLst/>
          </a:prstGeom>
          <a:solidFill>
            <a:srgbClr val="122B45"/>
          </a:solidFill>
          <a:ln w="15875">
            <a:solidFill>
              <a:srgbClr val="2CA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/>
            <a:r>
              <a:rPr sz="1350" b="1">
                <a:solidFill>
                  <a:srgbClr val="FFFFFF"/>
                </a:solidFill>
              </a:rPr>
              <a:t>infect()  [override]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0000" y="2367320"/>
            <a:ext cx="7200000" cy="8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>
                <a:solidFill>
                  <a:srgbClr val="444444"/>
                </a:solidFill>
              </a:rPr>
              <a:t>alpha-scales rel_sus for already-infected agents, then super().infect()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40080" y="3192320"/>
            <a:ext cx="0" cy="120000"/>
          </a:xfrm>
          <a:prstGeom prst="line">
            <a:avLst/>
          </a:prstGeom>
          <a:ln w="28575">
            <a:solidFill>
              <a:srgbClr val="2CA02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317320"/>
            <a:ext cx="3400000" cy="820000"/>
          </a:xfrm>
          <a:prstGeom prst="roundRect">
            <a:avLst/>
          </a:prstGeom>
          <a:solidFill>
            <a:srgbClr val="122B45"/>
          </a:solidFill>
          <a:ln w="15875">
            <a:solidFill>
              <a:srgbClr val="2CA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/>
            <a:r>
              <a:rPr sz="1350" b="1">
                <a:solidFill>
                  <a:srgbClr val="FFFFFF"/>
                </a:solidFill>
              </a:rPr>
              <a:t>set_prognoses()  [override]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3317320"/>
            <a:ext cx="7200000" cy="8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>
                <a:solidFill>
                  <a:srgbClr val="444444"/>
                </a:solidFill>
              </a:rPr>
              <a:t>bookkeeps NEW infections only; calls _assign_transmitted_strains for all uids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40080" y="4142320"/>
            <a:ext cx="0" cy="120000"/>
          </a:xfrm>
          <a:prstGeom prst="line">
            <a:avLst/>
          </a:prstGeom>
          <a:ln w="28575">
            <a:solidFill>
              <a:srgbClr val="2CA02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40080" y="4267320"/>
            <a:ext cx="3400000" cy="820000"/>
          </a:xfrm>
          <a:prstGeom prst="roundRect">
            <a:avLst/>
          </a:prstGeom>
          <a:solidFill>
            <a:srgbClr val="122B45"/>
          </a:solidFill>
          <a:ln w="15875">
            <a:solidFill>
              <a:srgbClr val="2CA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/>
            <a:r>
              <a:rPr sz="1350" b="1">
                <a:solidFill>
                  <a:srgbClr val="FFFFFF"/>
                </a:solidFill>
              </a:rPr>
              <a:t>transition()  [override]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00000" y="4267320"/>
            <a:ext cx="7200000" cy="8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>
                <a:solidFill>
                  <a:srgbClr val="444444"/>
                </a:solidFill>
              </a:rPr>
              <a:t>super().transition(), then branch: CLEARED -&gt; clear_all() | active -&gt; _apply_strain_progression()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340080" y="5092320"/>
            <a:ext cx="0" cy="120000"/>
          </a:xfrm>
          <a:prstGeom prst="line">
            <a:avLst/>
          </a:prstGeom>
          <a:ln w="28575">
            <a:solidFill>
              <a:srgbClr val="2CA02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40080" y="5217320"/>
            <a:ext cx="3400000" cy="820000"/>
          </a:xfrm>
          <a:prstGeom prst="roundRect">
            <a:avLst/>
          </a:prstGeom>
          <a:solidFill>
            <a:srgbClr val="122B45"/>
          </a:solidFill>
          <a:ln w="15875">
            <a:solidFill>
              <a:srgbClr val="2CA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/>
            <a:r>
              <a:rPr sz="1350" b="1">
                <a:solidFill>
                  <a:srgbClr val="FFFFFF"/>
                </a:solidFill>
              </a:rPr>
              <a:t>step_die()  [override]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00000" y="5217320"/>
            <a:ext cx="7200000" cy="8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>
                <a:solidFill>
                  <a:srgbClr val="444444"/>
                </a:solidFill>
              </a:rPr>
              <a:t>super().step_die(), then agent_strains.clear_all(uids)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FB7D6"/>
                </a:solidFill>
              </a:rPr>
              <a:t>TRANSMISSION</a:t>
            </a:r>
          </a:p>
          <a:p>
            <a:r>
              <a:rPr sz="2800" b="1">
                <a:solidFill>
                  <a:srgbClr val="FFFFFF"/>
                </a:solidFill>
              </a:rPr>
              <a:t>Two classes cooperate on transmission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463040" cy="5080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AAAAA"/>
                </a:solidFill>
              </a:rPr>
              <a:t>6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900000" cy="465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3A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77800" bIns="127000" rtlCol="0" anchor="t"/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C8E6C9"/>
                </a:solidFill>
                <a:latin typeface="Consolas"/>
              </a:rPr>
              <a:t># connector.py — ResistanceConnector.step()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C8E6C9"/>
                </a:solidFill>
                <a:latin typeface="Consolas"/>
              </a:rPr>
              <a:t># runs once/timestep, BEFORE tb.step()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0E0F0"/>
                </a:solidFill>
                <a:latin typeface="Consolas"/>
              </a:rPr>
              <a:t>fitness = profile.effective_rel_trans(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0E0F0"/>
                </a:solidFill>
                <a:latin typeface="Consolas"/>
              </a:rPr>
              <a:t>    tb.infectious.uids)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0E0F0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0E0F0"/>
                </a:solidFill>
                <a:latin typeface="Consolas"/>
              </a:rPr>
              <a:t>no_strain = ~profile.carries_any(uids)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0E0F0"/>
                </a:solidFill>
                <a:latin typeface="Consolas"/>
              </a:rPr>
              <a:t>fitness[no_strain] = 1.0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0E0F0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0E0F0"/>
                </a:solidFill>
                <a:latin typeface="Consolas"/>
              </a:rPr>
              <a:t>tb.rel_trans[uids] *= fitness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000" y="1417320"/>
            <a:ext cx="4801695" cy="465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3A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77800" bIns="127000" rtlCol="0" anchor="t"/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C8E6C9"/>
                </a:solidFill>
                <a:latin typeface="Consolas"/>
              </a:rPr>
              <a:t># multistrain_tb.py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C8E6C9"/>
                </a:solidFill>
                <a:latin typeface="Consolas"/>
              </a:rPr>
              <a:t># set_prognoses -&gt; _assign_transmitted_strains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0E0F0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0E0F0"/>
                </a:solidFill>
                <a:latin typeface="Consolas"/>
              </a:rPr>
              <a:t>src_picks = profile.sample_transmitted_strain(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0E0F0"/>
                </a:solidFill>
                <a:latin typeface="Consolas"/>
              </a:rPr>
              <a:t>    src_uids, rng)   # fitness-weighted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0E0F0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C8E6C9"/>
                </a:solidFill>
                <a:latin typeface="Consolas"/>
              </a:rPr>
              <a:t># no real source -&gt; fallback to init_prev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0E0F0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0E0F0"/>
                </a:solidFill>
                <a:latin typeface="Consolas"/>
              </a:rPr>
              <a:t>already = arr[target]        # dup check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0E0F0"/>
                </a:solidFill>
                <a:latin typeface="Consolas"/>
              </a:rPr>
              <a:t>arr[target[~already]] = True  # ADD only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FB7D6"/>
                </a:solidFill>
              </a:rPr>
              <a:t>SUPERINFECTION</a:t>
            </a:r>
          </a:p>
          <a:p>
            <a:r>
              <a:rPr sz="2800" b="1">
                <a:solidFill>
                  <a:srgbClr val="FFFFFF"/>
                </a:solidFill>
              </a:rPr>
              <a:t>The infect() override, line by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463040" cy="5080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AAAAA"/>
                </a:solidFill>
              </a:rPr>
              <a:t>7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355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3A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77800" bIns="127000" rtlCol="0" anchor="t"/>
          <a:lstStyle/>
          <a:p>
            <a:pPr>
              <a:spcAft>
                <a:spcPts val="200"/>
              </a:spcAft>
            </a:pPr>
            <a:r>
              <a:rPr sz="1250" dirty="0">
                <a:solidFill>
                  <a:srgbClr val="E0E0F0"/>
                </a:solidFill>
                <a:latin typeface="Consolas"/>
              </a:rPr>
              <a:t>def infect(self):</a:t>
            </a:r>
          </a:p>
          <a:p>
            <a:pPr>
              <a:spcAft>
                <a:spcPts val="200"/>
              </a:spcAft>
            </a:pPr>
            <a:r>
              <a:rPr sz="1250" dirty="0">
                <a:solidFill>
                  <a:srgbClr val="E0E0F0"/>
                </a:solidFill>
                <a:latin typeface="Consolas"/>
              </a:rPr>
              <a:t>    for </a:t>
            </a:r>
            <a:r>
              <a:rPr sz="1250" dirty="0" err="1">
                <a:solidFill>
                  <a:srgbClr val="E0E0F0"/>
                </a:solidFill>
                <a:latin typeface="Consolas"/>
              </a:rPr>
              <a:t>tbs_val</a:t>
            </a:r>
            <a:r>
              <a:rPr sz="1250" dirty="0">
                <a:solidFill>
                  <a:srgbClr val="E0E0F0"/>
                </a:solidFill>
                <a:latin typeface="Consolas"/>
              </a:rPr>
              <a:t>, alpha in [(INFECTION, </a:t>
            </a:r>
            <a:r>
              <a:rPr sz="1250" dirty="0" err="1">
                <a:solidFill>
                  <a:srgbClr val="E0E0F0"/>
                </a:solidFill>
                <a:latin typeface="Consolas"/>
              </a:rPr>
              <a:t>alpha_super</a:t>
            </a:r>
            <a:r>
              <a:rPr sz="1250" dirty="0">
                <a:solidFill>
                  <a:srgbClr val="E0E0F0"/>
                </a:solidFill>
                <a:latin typeface="Consolas"/>
              </a:rPr>
              <a:t>), (NON_INFECTIOUS, </a:t>
            </a:r>
            <a:r>
              <a:rPr sz="1250" dirty="0" err="1">
                <a:solidFill>
                  <a:srgbClr val="E0E0F0"/>
                </a:solidFill>
                <a:latin typeface="Consolas"/>
              </a:rPr>
              <a:t>alpha_act</a:t>
            </a:r>
            <a:r>
              <a:rPr sz="1250" dirty="0">
                <a:solidFill>
                  <a:srgbClr val="E0E0F0"/>
                </a:solidFill>
                <a:latin typeface="Consolas"/>
              </a:rPr>
              <a:t>['</a:t>
            </a:r>
            <a:r>
              <a:rPr sz="1250" dirty="0" err="1">
                <a:solidFill>
                  <a:srgbClr val="E0E0F0"/>
                </a:solidFill>
                <a:latin typeface="Consolas"/>
              </a:rPr>
              <a:t>non_infectious</a:t>
            </a:r>
            <a:r>
              <a:rPr sz="1250" dirty="0">
                <a:solidFill>
                  <a:srgbClr val="E0E0F0"/>
                </a:solidFill>
                <a:latin typeface="Consolas"/>
              </a:rPr>
              <a:t>']), ...]:</a:t>
            </a:r>
          </a:p>
          <a:p>
            <a:pPr>
              <a:spcAft>
                <a:spcPts val="200"/>
              </a:spcAft>
            </a:pPr>
            <a:r>
              <a:rPr sz="1250" dirty="0">
                <a:solidFill>
                  <a:srgbClr val="E0E0F0"/>
                </a:solidFill>
                <a:latin typeface="Consolas"/>
              </a:rPr>
              <a:t>        if alpha &lt;= 0: continue                 # default: only INFECTION is </a:t>
            </a:r>
            <a:r>
              <a:rPr sz="1250" dirty="0" err="1">
                <a:solidFill>
                  <a:srgbClr val="E0E0F0"/>
                </a:solidFill>
                <a:latin typeface="Consolas"/>
              </a:rPr>
              <a:t>superinfectable</a:t>
            </a:r>
            <a:endParaRPr sz="1250" dirty="0">
              <a:solidFill>
                <a:srgbClr val="E0E0F0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250" dirty="0">
                <a:solidFill>
                  <a:srgbClr val="E0E0F0"/>
                </a:solidFill>
                <a:latin typeface="Consolas"/>
              </a:rPr>
              <a:t>        </a:t>
            </a:r>
            <a:r>
              <a:rPr sz="1250" dirty="0" err="1">
                <a:solidFill>
                  <a:srgbClr val="E0E0F0"/>
                </a:solidFill>
                <a:latin typeface="Consolas"/>
              </a:rPr>
              <a:t>elig_uids</a:t>
            </a:r>
            <a:r>
              <a:rPr sz="1250" dirty="0">
                <a:solidFill>
                  <a:srgbClr val="E0E0F0"/>
                </a:solidFill>
                <a:latin typeface="Consolas"/>
              </a:rPr>
              <a:t> += (</a:t>
            </a:r>
            <a:r>
              <a:rPr sz="1250" dirty="0" err="1">
                <a:solidFill>
                  <a:srgbClr val="E0E0F0"/>
                </a:solidFill>
                <a:latin typeface="Consolas"/>
              </a:rPr>
              <a:t>self.state</a:t>
            </a:r>
            <a:r>
              <a:rPr sz="1250" dirty="0">
                <a:solidFill>
                  <a:srgbClr val="E0E0F0"/>
                </a:solidFill>
                <a:latin typeface="Consolas"/>
              </a:rPr>
              <a:t> == </a:t>
            </a:r>
            <a:r>
              <a:rPr sz="1250" dirty="0" err="1">
                <a:solidFill>
                  <a:srgbClr val="E0E0F0"/>
                </a:solidFill>
                <a:latin typeface="Consolas"/>
              </a:rPr>
              <a:t>tbs_val</a:t>
            </a:r>
            <a:r>
              <a:rPr sz="1250" dirty="0">
                <a:solidFill>
                  <a:srgbClr val="E0E0F0"/>
                </a:solidFill>
                <a:latin typeface="Consolas"/>
              </a:rPr>
              <a:t>).</a:t>
            </a:r>
            <a:r>
              <a:rPr sz="1250" dirty="0" err="1">
                <a:solidFill>
                  <a:srgbClr val="E0E0F0"/>
                </a:solidFill>
                <a:latin typeface="Consolas"/>
              </a:rPr>
              <a:t>uids</a:t>
            </a:r>
            <a:r>
              <a:rPr sz="1250" dirty="0">
                <a:solidFill>
                  <a:srgbClr val="E0E0F0"/>
                </a:solidFill>
                <a:latin typeface="Consolas"/>
              </a:rPr>
              <a:t> ; alphas += alpha</a:t>
            </a:r>
          </a:p>
          <a:p>
            <a:pPr>
              <a:spcAft>
                <a:spcPts val="200"/>
              </a:spcAft>
            </a:pPr>
            <a:r>
              <a:rPr sz="1250" dirty="0">
                <a:solidFill>
                  <a:srgbClr val="E0E0F0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250" dirty="0">
                <a:solidFill>
                  <a:srgbClr val="E0E0F0"/>
                </a:solidFill>
                <a:latin typeface="Consolas"/>
              </a:rPr>
              <a:t>    </a:t>
            </a:r>
            <a:r>
              <a:rPr sz="1250" dirty="0" err="1">
                <a:solidFill>
                  <a:srgbClr val="E0E0F0"/>
                </a:solidFill>
                <a:latin typeface="Consolas"/>
              </a:rPr>
              <a:t>orig_sus</a:t>
            </a:r>
            <a:r>
              <a:rPr sz="1250" dirty="0">
                <a:solidFill>
                  <a:srgbClr val="E0E0F0"/>
                </a:solidFill>
                <a:latin typeface="Consolas"/>
              </a:rPr>
              <a:t>, </a:t>
            </a:r>
            <a:r>
              <a:rPr sz="1250" dirty="0" err="1">
                <a:solidFill>
                  <a:srgbClr val="E0E0F0"/>
                </a:solidFill>
                <a:latin typeface="Consolas"/>
              </a:rPr>
              <a:t>orig_rel_sus</a:t>
            </a:r>
            <a:r>
              <a:rPr sz="1250" dirty="0">
                <a:solidFill>
                  <a:srgbClr val="E0E0F0"/>
                </a:solidFill>
                <a:latin typeface="Consolas"/>
              </a:rPr>
              <a:t> = snapshot(</a:t>
            </a:r>
            <a:r>
              <a:rPr sz="1250" dirty="0" err="1">
                <a:solidFill>
                  <a:srgbClr val="E0E0F0"/>
                </a:solidFill>
                <a:latin typeface="Consolas"/>
              </a:rPr>
              <a:t>self.susceptible</a:t>
            </a:r>
            <a:r>
              <a:rPr sz="1250" dirty="0">
                <a:solidFill>
                  <a:srgbClr val="E0E0F0"/>
                </a:solidFill>
                <a:latin typeface="Consolas"/>
              </a:rPr>
              <a:t>[</a:t>
            </a:r>
            <a:r>
              <a:rPr sz="1250" dirty="0" err="1">
                <a:solidFill>
                  <a:srgbClr val="E0E0F0"/>
                </a:solidFill>
                <a:latin typeface="Consolas"/>
              </a:rPr>
              <a:t>elig</a:t>
            </a:r>
            <a:r>
              <a:rPr sz="1250" dirty="0">
                <a:solidFill>
                  <a:srgbClr val="E0E0F0"/>
                </a:solidFill>
                <a:latin typeface="Consolas"/>
              </a:rPr>
              <a:t>], </a:t>
            </a:r>
            <a:r>
              <a:rPr sz="1250" dirty="0" err="1">
                <a:solidFill>
                  <a:srgbClr val="E0E0F0"/>
                </a:solidFill>
                <a:latin typeface="Consolas"/>
              </a:rPr>
              <a:t>self.rel_sus</a:t>
            </a:r>
            <a:r>
              <a:rPr sz="1250" dirty="0">
                <a:solidFill>
                  <a:srgbClr val="E0E0F0"/>
                </a:solidFill>
                <a:latin typeface="Consolas"/>
              </a:rPr>
              <a:t>[</a:t>
            </a:r>
            <a:r>
              <a:rPr sz="1250" dirty="0" err="1">
                <a:solidFill>
                  <a:srgbClr val="E0E0F0"/>
                </a:solidFill>
                <a:latin typeface="Consolas"/>
              </a:rPr>
              <a:t>elig</a:t>
            </a:r>
            <a:r>
              <a:rPr sz="1250" dirty="0">
                <a:solidFill>
                  <a:srgbClr val="E0E0F0"/>
                </a:solidFill>
                <a:latin typeface="Consolas"/>
              </a:rPr>
              <a:t>])</a:t>
            </a:r>
          </a:p>
          <a:p>
            <a:pPr>
              <a:spcAft>
                <a:spcPts val="200"/>
              </a:spcAft>
            </a:pPr>
            <a:r>
              <a:rPr sz="1250" dirty="0">
                <a:solidFill>
                  <a:srgbClr val="E0E0F0"/>
                </a:solidFill>
                <a:latin typeface="Consolas"/>
              </a:rPr>
              <a:t>    try:</a:t>
            </a:r>
          </a:p>
          <a:p>
            <a:pPr>
              <a:spcAft>
                <a:spcPts val="200"/>
              </a:spcAft>
            </a:pPr>
            <a:r>
              <a:rPr sz="1250" dirty="0">
                <a:solidFill>
                  <a:srgbClr val="E0E0F0"/>
                </a:solidFill>
                <a:latin typeface="Consolas"/>
              </a:rPr>
              <a:t>        </a:t>
            </a:r>
            <a:r>
              <a:rPr sz="1250" dirty="0" err="1">
                <a:solidFill>
                  <a:srgbClr val="E0E0F0"/>
                </a:solidFill>
                <a:latin typeface="Consolas"/>
              </a:rPr>
              <a:t>self.susceptible</a:t>
            </a:r>
            <a:r>
              <a:rPr sz="1250" dirty="0">
                <a:solidFill>
                  <a:srgbClr val="E0E0F0"/>
                </a:solidFill>
                <a:latin typeface="Consolas"/>
              </a:rPr>
              <a:t>[</a:t>
            </a:r>
            <a:r>
              <a:rPr sz="1250" dirty="0" err="1">
                <a:solidFill>
                  <a:srgbClr val="E0E0F0"/>
                </a:solidFill>
                <a:latin typeface="Consolas"/>
              </a:rPr>
              <a:t>elig</a:t>
            </a:r>
            <a:r>
              <a:rPr sz="1250" dirty="0">
                <a:solidFill>
                  <a:srgbClr val="E0E0F0"/>
                </a:solidFill>
                <a:latin typeface="Consolas"/>
              </a:rPr>
              <a:t>] = True             # makes base </a:t>
            </a:r>
            <a:r>
              <a:rPr sz="1250" dirty="0" err="1">
                <a:solidFill>
                  <a:srgbClr val="E0E0F0"/>
                </a:solidFill>
                <a:latin typeface="Consolas"/>
              </a:rPr>
              <a:t>Infection.infect</a:t>
            </a:r>
            <a:r>
              <a:rPr sz="1250" dirty="0">
                <a:solidFill>
                  <a:srgbClr val="E0E0F0"/>
                </a:solidFill>
                <a:latin typeface="Consolas"/>
              </a:rPr>
              <a:t>() consider them</a:t>
            </a:r>
          </a:p>
          <a:p>
            <a:pPr>
              <a:spcAft>
                <a:spcPts val="200"/>
              </a:spcAft>
            </a:pPr>
            <a:r>
              <a:rPr sz="1250" dirty="0">
                <a:solidFill>
                  <a:srgbClr val="E0E0F0"/>
                </a:solidFill>
                <a:latin typeface="Consolas"/>
              </a:rPr>
              <a:t>        </a:t>
            </a:r>
            <a:r>
              <a:rPr sz="1250" dirty="0" err="1">
                <a:solidFill>
                  <a:srgbClr val="E0E0F0"/>
                </a:solidFill>
                <a:latin typeface="Consolas"/>
              </a:rPr>
              <a:t>self.rel_sus</a:t>
            </a:r>
            <a:r>
              <a:rPr sz="1250" dirty="0">
                <a:solidFill>
                  <a:srgbClr val="E0E0F0"/>
                </a:solidFill>
                <a:latin typeface="Consolas"/>
              </a:rPr>
              <a:t>[</a:t>
            </a:r>
            <a:r>
              <a:rPr sz="1250" dirty="0" err="1">
                <a:solidFill>
                  <a:srgbClr val="E0E0F0"/>
                </a:solidFill>
                <a:latin typeface="Consolas"/>
              </a:rPr>
              <a:t>elig</a:t>
            </a:r>
            <a:r>
              <a:rPr sz="1250" dirty="0">
                <a:solidFill>
                  <a:srgbClr val="E0E0F0"/>
                </a:solidFill>
                <a:latin typeface="Consolas"/>
              </a:rPr>
              <a:t>] = </a:t>
            </a:r>
            <a:r>
              <a:rPr sz="1250" dirty="0" err="1">
                <a:solidFill>
                  <a:srgbClr val="E0E0F0"/>
                </a:solidFill>
                <a:latin typeface="Consolas"/>
              </a:rPr>
              <a:t>orig_rel_sus</a:t>
            </a:r>
            <a:r>
              <a:rPr sz="1250" dirty="0">
                <a:solidFill>
                  <a:srgbClr val="E0E0F0"/>
                </a:solidFill>
                <a:latin typeface="Consolas"/>
              </a:rPr>
              <a:t> * alphas</a:t>
            </a:r>
          </a:p>
          <a:p>
            <a:pPr>
              <a:spcAft>
                <a:spcPts val="200"/>
              </a:spcAft>
            </a:pPr>
            <a:r>
              <a:rPr sz="1250" dirty="0">
                <a:solidFill>
                  <a:srgbClr val="E0E0F0"/>
                </a:solidFill>
                <a:latin typeface="Consolas"/>
              </a:rPr>
              <a:t>        return super().infect()                   # stock </a:t>
            </a:r>
            <a:r>
              <a:rPr sz="1250" dirty="0" err="1">
                <a:solidFill>
                  <a:srgbClr val="E0E0F0"/>
                </a:solidFill>
                <a:latin typeface="Consolas"/>
              </a:rPr>
              <a:t>Starsim</a:t>
            </a:r>
            <a:r>
              <a:rPr sz="1250" dirty="0">
                <a:solidFill>
                  <a:srgbClr val="E0E0F0"/>
                </a:solidFill>
                <a:latin typeface="Consolas"/>
              </a:rPr>
              <a:t> transmission, unmodified</a:t>
            </a:r>
          </a:p>
          <a:p>
            <a:pPr>
              <a:spcAft>
                <a:spcPts val="200"/>
              </a:spcAft>
            </a:pPr>
            <a:r>
              <a:rPr sz="1250" dirty="0">
                <a:solidFill>
                  <a:srgbClr val="E0E0F0"/>
                </a:solidFill>
                <a:latin typeface="Consolas"/>
              </a:rPr>
              <a:t>    finally:</a:t>
            </a:r>
          </a:p>
          <a:p>
            <a:pPr>
              <a:spcAft>
                <a:spcPts val="200"/>
              </a:spcAft>
            </a:pPr>
            <a:r>
              <a:rPr sz="1250" dirty="0">
                <a:solidFill>
                  <a:srgbClr val="E0E0F0"/>
                </a:solidFill>
                <a:latin typeface="Consolas"/>
              </a:rPr>
              <a:t>        </a:t>
            </a:r>
            <a:r>
              <a:rPr sz="1250" dirty="0" err="1">
                <a:solidFill>
                  <a:srgbClr val="E0E0F0"/>
                </a:solidFill>
                <a:latin typeface="Consolas"/>
              </a:rPr>
              <a:t>self.susceptible</a:t>
            </a:r>
            <a:r>
              <a:rPr sz="1250" dirty="0">
                <a:solidFill>
                  <a:srgbClr val="E0E0F0"/>
                </a:solidFill>
                <a:latin typeface="Consolas"/>
              </a:rPr>
              <a:t>[</a:t>
            </a:r>
            <a:r>
              <a:rPr sz="1250" dirty="0" err="1">
                <a:solidFill>
                  <a:srgbClr val="E0E0F0"/>
                </a:solidFill>
                <a:latin typeface="Consolas"/>
              </a:rPr>
              <a:t>elig</a:t>
            </a:r>
            <a:r>
              <a:rPr sz="1250" dirty="0">
                <a:solidFill>
                  <a:srgbClr val="E0E0F0"/>
                </a:solidFill>
                <a:latin typeface="Consolas"/>
              </a:rPr>
              <a:t>] = </a:t>
            </a:r>
            <a:r>
              <a:rPr sz="1250" dirty="0" err="1">
                <a:solidFill>
                  <a:srgbClr val="E0E0F0"/>
                </a:solidFill>
                <a:latin typeface="Consolas"/>
              </a:rPr>
              <a:t>orig_sus</a:t>
            </a:r>
            <a:r>
              <a:rPr sz="1250" dirty="0">
                <a:solidFill>
                  <a:srgbClr val="E0E0F0"/>
                </a:solidFill>
                <a:latin typeface="Consolas"/>
              </a:rPr>
              <a:t>          # restore: not actually susceptible</a:t>
            </a:r>
          </a:p>
          <a:p>
            <a:pPr>
              <a:spcAft>
                <a:spcPts val="200"/>
              </a:spcAft>
            </a:pPr>
            <a:r>
              <a:rPr sz="1250" dirty="0">
                <a:solidFill>
                  <a:srgbClr val="E0E0F0"/>
                </a:solidFill>
                <a:latin typeface="Consolas"/>
              </a:rPr>
              <a:t>        </a:t>
            </a:r>
            <a:r>
              <a:rPr sz="1250" dirty="0" err="1">
                <a:solidFill>
                  <a:srgbClr val="E0E0F0"/>
                </a:solidFill>
                <a:latin typeface="Consolas"/>
              </a:rPr>
              <a:t>self.rel_sus</a:t>
            </a:r>
            <a:r>
              <a:rPr sz="1250" dirty="0">
                <a:solidFill>
                  <a:srgbClr val="E0E0F0"/>
                </a:solidFill>
                <a:latin typeface="Consolas"/>
              </a:rPr>
              <a:t>[</a:t>
            </a:r>
            <a:r>
              <a:rPr sz="1250" dirty="0" err="1">
                <a:solidFill>
                  <a:srgbClr val="E0E0F0"/>
                </a:solidFill>
                <a:latin typeface="Consolas"/>
              </a:rPr>
              <a:t>elig</a:t>
            </a:r>
            <a:r>
              <a:rPr sz="1250" dirty="0">
                <a:solidFill>
                  <a:srgbClr val="E0E0F0"/>
                </a:solidFill>
                <a:latin typeface="Consolas"/>
              </a:rPr>
              <a:t>] = </a:t>
            </a:r>
            <a:r>
              <a:rPr sz="1250" dirty="0" err="1">
                <a:solidFill>
                  <a:srgbClr val="E0E0F0"/>
                </a:solidFill>
                <a:latin typeface="Consolas"/>
              </a:rPr>
              <a:t>orig_rel_sus</a:t>
            </a:r>
            <a:endParaRPr sz="1250" dirty="0">
              <a:solidFill>
                <a:srgbClr val="E0E0F0"/>
              </a:solidFill>
              <a:latin typeface="Consola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5150000"/>
            <a:ext cx="1088136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50" b="1">
                <a:solidFill>
                  <a:srgbClr val="122B45"/>
                </a:solidFill>
              </a:rPr>
              <a:t>•  set_prognoses splits by origin, not destination:</a:t>
            </a:r>
            <a:r>
              <a:rPr sz="1550">
                <a:solidFill>
                  <a:srgbClr val="444444"/>
                </a:solidFill>
              </a:rPr>
              <a:t> new_uids = uids ∩ (susceptible ∪ cleared) get full bookkeeping (state -&gt; INFECTION, ti_infected). Everyone else keeps their TB state untouched — only a new strain is added.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FB7D6"/>
                </a:solidFill>
              </a:rPr>
              <a:t>PROGRESSION + ACQUISITION</a:t>
            </a:r>
          </a:p>
          <a:p>
            <a:r>
              <a:rPr sz="2800" b="1">
                <a:solidFill>
                  <a:srgbClr val="FFFFFF"/>
                </a:solidFill>
              </a:rPr>
              <a:t>Equal-probability bottleneck, additive mutation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463040" cy="5080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AAAAA"/>
                </a:solidFill>
              </a:rPr>
              <a:t>8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900000" cy="465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3A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77800" bIns="127000" rtlCol="0" anchor="t"/>
          <a:lstStyle/>
          <a:p>
            <a:pPr>
              <a:spcAft>
                <a:spcPts val="200"/>
              </a:spcAft>
            </a:pPr>
            <a:r>
              <a:rPr sz="1250">
                <a:solidFill>
                  <a:srgbClr val="C8E6C9"/>
                </a:solidFill>
                <a:latin typeface="Consolas"/>
              </a:rPr>
              <a:t># ProgressionResolver.resolve(profile, uids)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F0"/>
                </a:solidFill>
                <a:latin typeface="Consolas"/>
              </a:rPr>
              <a:t>counts = profile.n_strains_per_agent(uids)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F0"/>
                </a:solidFill>
                <a:latin typeface="Consolas"/>
              </a:rPr>
              <a:t>multi = counts &gt; 1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F0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F0"/>
                </a:solidFill>
                <a:latin typeface="Consolas"/>
              </a:rPr>
              <a:t>funnel_mask = multi &amp; (rng.rvs(n) &gt;= p_multi)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F0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C8E6C9"/>
                </a:solidFill>
                <a:latin typeface="Consolas"/>
              </a:rPr>
              <a:t># weights = plain 0/1 carrier mask —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C8E6C9"/>
                </a:solidFill>
                <a:latin typeface="Consolas"/>
              </a:rPr>
              <a:t># NOT fitness-weighted (no cost on progression)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F0"/>
                </a:solidFill>
                <a:latin typeface="Consolas"/>
              </a:rPr>
              <a:t>picks = sample_from_cdf(weights)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F0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F0"/>
                </a:solidFill>
                <a:latin typeface="Consolas"/>
              </a:rPr>
              <a:t>profile.clear_all(funnel_uids)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F0"/>
                </a:solidFill>
                <a:latin typeface="Consolas"/>
              </a:rPr>
              <a:t>arr[target] = True     # restore ONE pick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000" y="1417320"/>
            <a:ext cx="4801695" cy="465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3A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77800" bIns="127000" rtlCol="0" anchor="t"/>
          <a:lstStyle/>
          <a:p>
            <a:pPr>
              <a:spcAft>
                <a:spcPts val="200"/>
              </a:spcAft>
            </a:pPr>
            <a:r>
              <a:rPr sz="1250">
                <a:solidFill>
                  <a:srgbClr val="C8E6C9"/>
                </a:solidFill>
                <a:latin typeface="Consolas"/>
              </a:rPr>
              <a:t># AcquisitionResolver.random_acquisition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F0"/>
                </a:solidFill>
                <a:latin typeface="Consolas"/>
              </a:rPr>
              <a:t>for drug, p in p_random.items():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F0"/>
                </a:solidFill>
                <a:latin typeface="Consolas"/>
              </a:rPr>
              <a:t>  for s_idx in range(catalog.n):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F0"/>
                </a:solidFill>
                <a:latin typeface="Consolas"/>
              </a:rPr>
              <a:t>    if already_resistant: continue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F0"/>
                </a:solidFill>
                <a:latin typeface="Consolas"/>
              </a:rPr>
              <a:t>    target_idx = _resistant_target_idx(...)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F0"/>
                </a:solidFill>
                <a:latin typeface="Consolas"/>
              </a:rPr>
              <a:t>    if target_idx is None: continue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F0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F0"/>
                </a:solidFill>
                <a:latin typeface="Consolas"/>
              </a:rPr>
              <a:t>    carriers = strain_arr.uids ∩ uids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F0"/>
                </a:solidFill>
                <a:latin typeface="Consolas"/>
              </a:rPr>
              <a:t>    hit = carriers[rng.rvs(n) &lt; p]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F0"/>
                </a:solidFill>
                <a:latin typeface="Consolas"/>
              </a:rPr>
              <a:t>    profile.add_strain(hit, target_idx)  # ADD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FB7D6"/>
                </a:solidFill>
              </a:rPr>
              <a:t>TREATMENT</a:t>
            </a:r>
          </a:p>
          <a:p>
            <a:r>
              <a:rPr sz="2800" b="1">
                <a:solidFill>
                  <a:srgbClr val="FFFFFF"/>
                </a:solidFill>
              </a:rPr>
              <a:t>Product rolls cures, Delivery resolves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463040" cy="5080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AAAAA"/>
                </a:solidFill>
              </a:rPr>
              <a:t>9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50" b="1">
                <a:solidFill>
                  <a:srgbClr val="122B45"/>
                </a:solidFill>
              </a:rPr>
              <a:t>•  StrainAwareTx.administer(sim, uids)</a:t>
            </a:r>
            <a:r>
              <a:rPr sz="1550">
                <a:solidFill>
                  <a:srgbClr val="444444"/>
                </a:solidFill>
              </a:rPr>
              <a:t> — one adherent_mask Bernoulli/agent; per-strain p_cure_strain_i rolls; success iff cured_per_agent == carried_total.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122B45"/>
                </a:solidFill>
              </a:rPr>
              <a:t>•  ...step_start_treatment()</a:t>
            </a:r>
            <a:r>
              <a:rPr sz="1550">
                <a:solidFill>
                  <a:srgbClr val="444444"/>
                </a:solidFill>
              </a:rPr>
              <a:t> — INFECTION: clear susceptible strains, then selective_acquisition on residuals. Active: calls administer(), stashes pending outcomes.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122B45"/>
                </a:solidFill>
              </a:rPr>
              <a:t>•  ...step_success()</a:t>
            </a:r>
            <a:r>
              <a:rPr sz="1550">
                <a:solidFill>
                  <a:srgbClr val="444444"/>
                </a:solidFill>
              </a:rPr>
              <a:t> — agent_strains.clear_all() on full cure.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122B45"/>
                </a:solidFill>
              </a:rPr>
              <a:t>•  ...step_failures()</a:t>
            </a:r>
            <a:r>
              <a:rPr sz="1550">
                <a:solidFill>
                  <a:srgbClr val="444444"/>
                </a:solidFill>
              </a:rPr>
              <a:t> — un-does pre-rolled cures for failed agents, then selective_acquisition() — REPLACES, via replace_strain.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122B45"/>
                </a:solidFill>
              </a:rPr>
              <a:t>•  ...step_relapses()</a:t>
            </a:r>
            <a:r>
              <a:rPr sz="1550">
                <a:solidFill>
                  <a:srgbClr val="444444"/>
                </a:solidFill>
              </a:rPr>
              <a:t> — restores pre-cure strain identity, then ALSO runs selective_acquisition (relapse = unsuccessful outcome).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FB7D6"/>
                </a:solidFill>
              </a:rPr>
              <a:t>REGIMEN &amp; TPT</a:t>
            </a:r>
          </a:p>
          <a:p>
            <a:r>
              <a:rPr sz="2800" b="1">
                <a:solidFill>
                  <a:srgbClr val="FFFFFF"/>
                </a:solidFill>
              </a:rPr>
              <a:t>One efficacy formula, reused by TPT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463040" cy="5080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AAAAA"/>
                </a:solidFill>
              </a:rPr>
              <a:t>10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603504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22B45"/>
                </a:solidFill>
              </a:rPr>
              <a:t>•  strain_cure_probs(catalog)</a:t>
            </a:r>
            <a:r>
              <a:rPr sz="1600">
                <a:solidFill>
                  <a:srgbClr val="444444"/>
                </a:solidFill>
              </a:rPr>
              <a:t> — per_drug_efficacy × resistance_penalty (default 0) per resisted drug, combined via max or parallel, scaled by base_efficacy.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22B45"/>
                </a:solidFill>
              </a:rPr>
              <a:t>•  StrainAwareTPTTx(TPTTx)</a:t>
            </a:r>
            <a:r>
              <a:rPr sz="1600">
                <a:solidFill>
                  <a:srgbClr val="444444"/>
                </a:solidFill>
              </a:rPr>
              <a:t> reuses the same Regimen + AcquisitionResolver — it only swaps in DEFAULT_TPT_STATE_MODIFIERS.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22B45"/>
                </a:solidFill>
              </a:rPr>
              <a:t>•  apply_protection()</a:t>
            </a:r>
            <a:r>
              <a:rPr sz="1600">
                <a:solidFill>
                  <a:srgbClr val="444444"/>
                </a:solidFill>
              </a:rPr>
              <a:t> additionally scales base TPT rr_* modifiers by the fraction of an agent's carried strains the regimen covers.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417320"/>
            <a:ext cx="4663440" cy="335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3A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77800" bIns="127000" rtlCol="0" anchor="ctr"/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E0E0F0"/>
                </a:solidFill>
                <a:latin typeface="Consolas"/>
              </a:rPr>
              <a:t>Regimen('first_line', drugs=['INH','RIF'],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0E0F0"/>
                </a:solidFill>
                <a:latin typeface="Consolas"/>
              </a:rPr>
              <a:t>  per_drug_efficacy={'INH':.95,'RIF':.95})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0E0F0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C8E6C9"/>
                </a:solidFill>
                <a:latin typeface="Consolas"/>
              </a:rPr>
              <a:t># pan-susceptible:  p_cure = 0.95  (max)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C8E6C9"/>
                </a:solidFill>
                <a:latin typeface="Consolas"/>
              </a:rPr>
              <a:t># INH-resistant:    p_cure = 0.95  (RIF)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C8E6C9"/>
                </a:solidFill>
                <a:latin typeface="Consolas"/>
              </a:rPr>
              <a:t># MDR (INH+RIF):    p_cure = 0.0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FB7D6"/>
                </a:solidFill>
              </a:rPr>
              <a:t>DIAGNOSTICS</a:t>
            </a:r>
          </a:p>
          <a:p>
            <a:r>
              <a:rPr sz="2800" b="1">
                <a:solidFill>
                  <a:srgbClr val="FFFFFF"/>
                </a:solidFill>
              </a:rPr>
              <a:t>DST's lab-dropout chain, then routing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463040" cy="5080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AAAAA"/>
                </a:solidFill>
              </a:rPr>
              <a:t>11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900000" cy="465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3A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77800" bIns="127000" rtlCol="0" anchor="t"/>
          <a:lstStyle/>
          <a:p>
            <a:pPr algn="ctr">
              <a:spcAft>
                <a:spcPts val="200"/>
              </a:spcAft>
            </a:pPr>
            <a:r>
              <a:rPr sz="1250">
                <a:solidFill>
                  <a:srgbClr val="C8E6C9"/>
                </a:solidFill>
                <a:latin typeface="Consolas"/>
              </a:rPr>
              <a:t># DSTDx.administer — per strain s_idx: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F0"/>
                </a:solidFill>
                <a:latin typeface="Consolas"/>
              </a:rPr>
              <a:t>lab_ok = p_sample.rvs() &amp; p_culture.rvs()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F0"/>
                </a:solidFill>
                <a:latin typeface="Consolas"/>
              </a:rPr>
              <a:t>carriers = strain_arr.uids ∩ uids ∩ lab_ok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F0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F0"/>
                </a:solidFill>
                <a:latin typeface="Consolas"/>
              </a:rPr>
              <a:t>obs = p_obs_strain_i.rvs()  # default = fitness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F0"/>
                </a:solidFill>
                <a:latin typeface="Consolas"/>
              </a:rPr>
              <a:t>observed = carriers[obs]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F0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F0"/>
                </a:solidFill>
                <a:latin typeface="Consolas"/>
              </a:rPr>
              <a:t>observed_resistant = sens_pos if is_R else ~spec_neg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F0"/>
                </a:solidFill>
                <a:latin typeface="Consolas"/>
              </a:rPr>
              <a:t>results[drug][hit] = True   # agent-level 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000" y="1417320"/>
            <a:ext cx="4801695" cy="465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3A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77800" bIns="127000" rtlCol="0" anchor="t"/>
          <a:lstStyle/>
          <a:p>
            <a:pPr algn="ctr">
              <a:spcAft>
                <a:spcPts val="200"/>
              </a:spcAft>
            </a:pPr>
            <a:r>
              <a:rPr sz="1250">
                <a:solidFill>
                  <a:srgbClr val="C8E6C9"/>
                </a:solidFill>
                <a:latin typeface="Consolas"/>
              </a:rPr>
              <a:t># RegimenRouter.matches(INH=True, RIF=True)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F0"/>
                </a:solidFill>
                <a:latin typeface="Consolas"/>
              </a:rPr>
              <a:t>base = alive ∩ diagnosed ∩ tested_dst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F0"/>
                </a:solidFill>
                <a:latin typeface="Consolas"/>
              </a:rPr>
              <a:t>       ∩ tb.on_treatment.false()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F0"/>
                </a:solidFill>
                <a:latin typeface="Consolas"/>
              </a:rPr>
              <a:t>for drug, want_r in spec.items():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F0"/>
                </a:solidFill>
                <a:latin typeface="Consolas"/>
              </a:rPr>
              <a:t>  arr = observed_&lt;drug&gt;_resistant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F0"/>
                </a:solidFill>
                <a:latin typeface="Consolas"/>
              </a:rPr>
              <a:t>  base ∩= (arr.uids if want_r else arr.false())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F0"/>
                </a:solidFill>
                <a:latin typeface="Consolas"/>
              </a:rPr>
              <a:t>return base   # -&gt; eligibility= for TxDelivery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FB7D6"/>
                </a:solidFill>
              </a:rPr>
              <a:t>ASSEMBLY</a:t>
            </a:r>
          </a:p>
          <a:p>
            <a:r>
              <a:rPr sz="2800" b="1">
                <a:solidFill>
                  <a:srgbClr val="FFFFFF"/>
                </a:solidFill>
              </a:rPr>
              <a:t>How ResistanceSim wires it all together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463040" cy="5080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AAAAA"/>
                </a:solidFill>
              </a:rPr>
              <a:t>12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465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3A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77800" bIns="127000" rtlCol="0" anchor="t"/>
          <a:lstStyle/>
          <a:p>
            <a:pPr>
              <a:spcAft>
                <a:spcPts val="200"/>
              </a:spcAft>
            </a:pPr>
            <a:r>
              <a:rPr sz="1350">
                <a:solidFill>
                  <a:srgbClr val="E0E0F0"/>
                </a:solidFill>
                <a:latin typeface="Consolas"/>
              </a:rPr>
              <a:t>class ResistanceSim(tbsim.Sim):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F0"/>
                </a:solidFill>
                <a:latin typeface="Consolas"/>
              </a:rPr>
              <a:t>  def __init__(self, strains=None, strain_preset='standard', cascade=None,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F0"/>
                </a:solidFill>
                <a:latin typeface="Consolas"/>
              </a:rPr>
              <a:t>               connector=True, resistance=True, analyzers='default', ...):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F0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F0"/>
                </a:solidFill>
                <a:latin typeface="Consolas"/>
              </a:rPr>
              <a:t>    strain_list = _resolve_strains(strains, strain_preset)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F0"/>
                </a:solidFill>
                <a:latin typeface="Consolas"/>
              </a:rPr>
              <a:t>    tb = MultiStrainTB(strains=strain_list, pars=tb_pars, **resistance_kw)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F0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F0"/>
                </a:solidFill>
                <a:latin typeface="Consolas"/>
              </a:rPr>
              <a:t>    connectors    = [ResistanceConnector()] if connector else []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F0"/>
                </a:solidFill>
                <a:latin typeface="Consolas"/>
              </a:rPr>
              <a:t>    interventions = build_care_cascade(tb, mode=cascade, **cascade_pars) if cascade else []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F0"/>
                </a:solidFill>
                <a:latin typeface="Consolas"/>
              </a:rPr>
              <a:t>    analyzers     = [StrainResults(), DuplicateStrainAnalyzer()] if analyzers=='default' else ...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F0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F0"/>
                </a:solidFill>
                <a:latin typeface="Consolas"/>
              </a:rPr>
              <a:t>    super().__init__(tb_model=tb, connectors=connectors,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F0"/>
                </a:solidFill>
                <a:latin typeface="Consolas"/>
              </a:rPr>
              <a:t>                      interventions=interventions, analyzers=analyzers, ...)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FB7D6"/>
                </a:solidFill>
              </a:rPr>
              <a:t>VERIFICATION</a:t>
            </a:r>
          </a:p>
          <a:p>
            <a:r>
              <a:rPr sz="2800" b="1">
                <a:solidFill>
                  <a:srgbClr val="FFFFFF"/>
                </a:solidFill>
              </a:rPr>
              <a:t>What pins the wiring 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463040" cy="5080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AAAAA"/>
                </a:solidFill>
              </a:rPr>
              <a:t>13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50" b="1">
                <a:solidFill>
                  <a:srgbClr val="122B45"/>
                </a:solidFill>
              </a:rPr>
              <a:t>•  test_resistance_natural_history.py</a:t>
            </a:r>
            <a:r>
              <a:rPr sz="1550">
                <a:solidFill>
                  <a:srgbClr val="444444"/>
                </a:solidFill>
              </a:rPr>
              <a:t> — transmission, superinfection, progression, random acquisition, clearance.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122B45"/>
                </a:solidFill>
              </a:rPr>
              <a:t>•  test_resistance_interventions.py</a:t>
            </a:r>
            <a:r>
              <a:rPr sz="1550">
                <a:solidFill>
                  <a:srgbClr val="444444"/>
                </a:solidFill>
              </a:rPr>
              <a:t> — Regimen, StrainAwareTx/TPT/DST, RegimenRouter, treatment monitoring.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122B45"/>
                </a:solidFill>
              </a:rPr>
              <a:t>•  test_resistance_wiring.py</a:t>
            </a:r>
            <a:r>
              <a:rPr sz="1550">
                <a:solidFill>
                  <a:srgbClr val="444444"/>
                </a:solidFill>
              </a:rPr>
              <a:t> — analyzers, init_prev seeding, connector integration, migration regressions.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122B45"/>
                </a:solidFill>
              </a:rPr>
              <a:t>•  test_resistance_scenarios.py</a:t>
            </a:r>
            <a:r>
              <a:rPr sz="1550">
                <a:solidFill>
                  <a:srgbClr val="444444"/>
                </a:solidFill>
              </a:rPr>
              <a:t> — full epidemiological scenarios &amp; one-way sensitivity analyses.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122B45"/>
                </a:solidFill>
              </a:rPr>
              <a:t>•  tests/test_resistance.py</a:t>
            </a:r>
            <a:r>
              <a:rPr sz="1550">
                <a:solidFill>
                  <a:srgbClr val="444444"/>
                </a:solidFill>
              </a:rPr>
              <a:t> — StrainSpec / StrainCatalog / AgentStrains data-model unit tests.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122B45"/>
                </a:solidFill>
              </a:rPr>
              <a:t>•  resistance_architecture.md §12</a:t>
            </a:r>
            <a:r>
              <a:rPr sz="1550">
                <a:solidFill>
                  <a:srgbClr val="444444"/>
                </a:solidFill>
              </a:rPr>
              <a:t> — literal spec -&gt; code traceability table, ✅/⚠/⏳ per requirement.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122B45"/>
                </a:solidFill>
              </a:rPr>
              <a:t>•  Read order to extend this code:</a:t>
            </a:r>
            <a:r>
              <a:rPr sz="1550">
                <a:solidFill>
                  <a:srgbClr val="444444"/>
                </a:solidFill>
              </a:rPr>
              <a:t> strains.py -&gt; resolvers.py -&gt; multistrain_tb.py -&gt; connector.py -&gt; tx.py/diagnostics.py -&gt; sim.py.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4920</Words>
  <Application>Microsoft Macintosh PowerPoint</Application>
  <PresentationFormat>Widescreen</PresentationFormat>
  <Paragraphs>203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Minerva Enriquez</cp:lastModifiedBy>
  <cp:revision>3</cp:revision>
  <dcterms:created xsi:type="dcterms:W3CDTF">2013-01-27T09:14:16Z</dcterms:created>
  <dcterms:modified xsi:type="dcterms:W3CDTF">2026-07-08T23:29:10Z</dcterms:modified>
  <cp:category/>
</cp:coreProperties>
</file>